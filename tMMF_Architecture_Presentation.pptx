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SCBAM Tokenized Mutual Fund (tMMF)</a:t>
            </a:r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Smart Contract Architecture &amp; Core Components</a:t>
            </a:r>
          </a:p>
          <a:p>
            <a:br/>
            <a:pPr>
              <a:defRPr sz="1400">
                <a:solidFill>
                  <a:srgbClr val="E2E8F0"/>
                </a:solidFill>
              </a:defRPr>
            </a:pPr>
            <a:r>
              <a:t>Multi-Broker Corridor Gateway • Constant NAV Push Yield • ERC-7540 Asynchronous Settlement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29200"/>
            <a:ext cx="45720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Target: Hyperledger Besu (Private EVM Network)</a:t>
            </a:r>
            <a:br/>
            <a:r>
              <a:t>TokenX Contracts v1.0.4 • Solidity 0.8.25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Core Smart Contract Components (Box Architecture)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4 Decoupled Components Providing KYC Gating, Token Transfers, Compliance, and Vault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🏛️ Proxy Gateway (v2)</a:t>
            </a:r>
            <a:br/>
            <a:r>
              <a:t>AllowlistRegistryProxyV2.sol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Aggregates Broker Registries:</a:t>
            </a:r>
            <a:br/>
            <a:r>
              <a:t>  - InnovestX AllowlistRegistry.sol</a:t>
            </a:r>
            <a:br/>
            <a:r>
              <a:t>  - Dime AllowlistRegistry.sol</a:t>
            </a:r>
            <a:br/>
            <a:r>
              <a:t>• Pairwise Corridor Matrix (setCorridor)</a:t>
            </a:r>
            <a:br/>
            <a:r>
              <a:t>• Direct walletBroker &amp; isAllowTransfer</a:t>
            </a:r>
            <a:br/>
            <a:r>
              <a:t>• Global Regulatory Blacklist</a:t>
            </a:r>
            <a:br/>
            <a:r>
              <a:t>• 100% v1 Allowlist Compatible</a:t>
            </a:r>
            <a:br/>
            <a:br/>
            <a:r>
              <a:t>Clearinghouse: Token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🪙 Main Token (tMMF)</a:t>
            </a:r>
            <a:br/>
            <a:r>
              <a:t>InvestmentTokenM.sol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Standard ERC-20 Token</a:t>
            </a:r>
            <a:br/>
            <a:r>
              <a:t>• Symbol: tMMF (18 Decimals)</a:t>
            </a:r>
            <a:br/>
            <a:r>
              <a:t>• Pausable, Mintable, Burnable</a:t>
            </a:r>
            <a:br/>
            <a:r>
              <a:t>• Allowlist Integration via Gateway</a:t>
            </a:r>
            <a:br/>
            <a:r>
              <a:t>• Uniswap v4-style Transfer Hooks</a:t>
            </a:r>
            <a:br/>
            <a:r>
              <a:t>  (via ERC20Hooks Extension)</a:t>
            </a:r>
            <a:br/>
            <a:r>
              <a:t>• Dispatches before/after callbacks</a:t>
            </a:r>
            <a:br/>
            <a:br/>
            <a:r>
              <a:t>Owner: SCBAM Treasury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🛡️ Regulatory Hook</a:t>
            </a:r>
            <a:br/>
            <a:r>
              <a:t>FundComplianceHook.sol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Uniswap v4-style ITransferHook</a:t>
            </a:r>
            <a:br/>
            <a:r>
              <a:t>• beforeTokenTransfer(caller, from, to, amt):</a:t>
            </a:r>
            <a:br/>
            <a:r>
              <a:t>  - Asserts Corridors &amp; Min 10 Limit</a:t>
            </a:r>
            <a:br/>
            <a:r>
              <a:t>• afterTokenTransfer:</a:t>
            </a:r>
            <a:br/>
            <a:r>
              <a:t>  - Auto-syncs P2P Movements with</a:t>
            </a:r>
            <a:br/>
            <a:r>
              <a:t>    FundController Ledgers</a:t>
            </a:r>
            <a:br/>
            <a:r>
              <a:t>• Stateless Plug-and-Play Upgrades</a:t>
            </a:r>
            <a:br/>
            <a:r>
              <a:t>  (Zero State Migration via setTransferHook)</a:t>
            </a:r>
            <a:br/>
            <a:br/>
            <a:r>
              <a:t>Owner: Token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⚙️ Fund Orchestrator</a:t>
            </a:r>
            <a:br/>
            <a:r>
              <a:t>FundController.sol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NAV Push Yield Distribution (1e10)</a:t>
            </a:r>
            <a:br/>
            <a:r>
              <a:t>• Per-Broker Active Share Ledgers</a:t>
            </a:r>
            <a:br/>
            <a:r>
              <a:t>  (totalSharesByBroker)</a:t>
            </a:r>
            <a:br/>
            <a:r>
              <a:t>• Isolated Broker Reserve Quotas</a:t>
            </a:r>
            <a:br/>
            <a:r>
              <a:t>• Inter-Broker Reserve Rebalancing</a:t>
            </a:r>
            <a:br/>
            <a:r>
              <a:t>• ERC-7540 Asynchronous Redemptions:</a:t>
            </a:r>
            <a:br/>
            <a:r>
              <a:t>  - Day T: Lock Shares in Vault</a:t>
            </a:r>
            <a:br/>
            <a:r>
              <a:t>  - Day T+1: Permanent Burn</a:t>
            </a:r>
            <a:br/>
            <a:br/>
            <a:r>
              <a:t>Admin: SCBAM Treasury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Institutional Role &amp; Access Control Matrix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Clear Separation of Powers: Issuer, Tech Clearinghouse &amp; Automation, and KYC Brokers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🏛️ SCBAM Treasury</a:t>
            </a:r>
          </a:p>
          <a:p>
            <a:pPr>
              <a:defRPr sz="1000" b="1">
                <a:solidFill>
                  <a:srgbClr val="9333EA"/>
                </a:solidFill>
              </a:defRPr>
            </a:pPr>
            <a:r>
              <a:t>SUPER ADMIN / ISSUER / FUND MGR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Owns InvestmentTokenM (Mints Supply)</a:t>
            </a:r>
            <a:br/>
            <a:r>
              <a:t>• FundController DEFAULT_ADMIN_ROLE</a:t>
            </a:r>
            <a:br/>
            <a:r>
              <a:t>• Day T+1 Settlement Burn (burnBrokerRedemptions)</a:t>
            </a:r>
            <a:br/>
            <a:r>
              <a:t>• Rebalances &amp; Sweeps Unallocated Reserves</a:t>
            </a:r>
            <a:br/>
            <a:r>
              <a:t>• Cancels &amp; Refunds Rejected Redemptions</a:t>
            </a:r>
            <a:br/>
            <a:r>
              <a:t>• Authorizes Official Fund Daily NAV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⚙️ Token X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CLEARINGHOUSE &amp; AUTOMATED ENGINE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Owns &amp; Governs AllowlistRegistryProxyV2</a:t>
            </a:r>
            <a:br/>
            <a:r>
              <a:t>• Opens/Closes Corridors &amp; Global Unlock</a:t>
            </a:r>
            <a:br/>
            <a:r>
              <a:t>• Manages Global Blacklist &amp; Emergency Pause</a:t>
            </a:r>
            <a:br/>
            <a:r>
              <a:t>• Owns FundComplianceHook &amp; Min Holding Rules</a:t>
            </a:r>
            <a:br/>
            <a:r>
              <a:t>• NAV_UPDATER_ROLE: Daily NAV Oracle Bot</a:t>
            </a:r>
            <a:br/>
            <a:r>
              <a:t>• DISTRIBUTOR_ROLE: Batch Yield Push 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🏢 Broker Distributors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INNOVESTX &amp; DIME DISTRIBUTORS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• Own &amp; Manage Dedicated AllowlistRegistry.sol</a:t>
            </a:r>
            <a:br/>
            <a:r>
              <a:t>• Independent KYC Onboarding (addAllowlist)</a:t>
            </a:r>
            <a:br/>
            <a:r>
              <a:t>• FundController ALLOTMENT_ROLE</a:t>
            </a:r>
            <a:br/>
            <a:r>
              <a:t>• Allots Subscription Shares to Users</a:t>
            </a:r>
            <a:br/>
            <a:r>
              <a:t>• Initiates Day T Client Redemptions (requestRedeem)</a:t>
            </a:r>
            <a:br/>
            <a:r>
              <a:t>• Manages Isolated Broker Reserve Buffer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End-to-End Business Lifecycle Workflow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Step-by-step Execution from Initial Minting to T+1 Settlement and Inter-Broker Rebalancing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371600"/>
            <a:ext cx="99669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Step 1: Mint &amp; Fund: SCBAM Mints tMMF tokens to treasury and deposits into FundController isolated reserve pools (brokerReserve[InnovestX]).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194560"/>
            <a:ext cx="99669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Step 2: KYC &amp; Allotment: InnovestX registers investor wallet and calls allotShares to credit newly subscribed shares to user.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017520"/>
            <a:ext cx="99669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Step 3: P2P &amp; Corridors: Transfers within same broker are unrestricted. Cross-broker transfers check corridor and auto-sync broker ledgers via hook.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840480"/>
            <a:ext cx="99669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Step 4: Daily NAV Push: Oracle pushes daily NAV. Controller computes 10-decimal diff rate. Distributor bot batch credits new shares to all holders.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663440"/>
            <a:ext cx="99669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Step 5: Day T Redemption: Investor requests redemption. Tokens are pulled into controller and locked under lockedForRedemption[broker].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5486400"/>
            <a:ext cx="99669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Step 6: Day T+1 Settlement: After bank fiat cash is wired via BAHTNET, SCBAM Admin permanently burns the locked tokens on-chain.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Mathematical Model &amp; Excel Alignment Proof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100% Mathematical Fidelity with หลักการ constant nav.xlsx Across 35 Mockup Investors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NAV Diff Multiplier (ตัวคูณ)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10 Decimals (1e10 Scaling)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diffPercentScaled = (newNav - oldNav) * 1e10 / oldNav</a:t>
            </a:r>
            <a:br/>
            <a:br/>
            <a:r>
              <a:t>Matches Excel: ROUND((Today_NAV - Yesterday_NAV) / TotalUnits, 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Investor Yield (ผลคูณ)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Protocol-Safe Floor Math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sharesEarned = (balanceBefore * diffPercentScaled) / 1e10</a:t>
            </a:r>
            <a:br/>
            <a:br/>
            <a:r>
              <a:t>Guarantees Sum(Yield) &lt;= Total NAV Growth. Never over-distributes.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Units &amp; Decimals</a:t>
            </a:r>
          </a:p>
          <a:p>
            <a:pPr>
              <a:defRPr sz="1100" b="1">
                <a:solidFill>
                  <a:srgbClr val="9333EA"/>
                </a:solidFill>
              </a:defRPr>
            </a:pPr>
            <a:r>
              <a:t>4 Decimals Display / 18 On-chain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Token: 18 decimals internally.</a:t>
            </a:r>
            <a:br/>
            <a:r>
              <a:t>Shares: Displayed in 4 decimals (27,000.1234).</a:t>
            </a:r>
            <a:br/>
            <a:r>
              <a:t>Yield: 2 decimal Satangs (954.69 THB).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Dust Reconciliation (การโปรยเศษ)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0.022983 THB Leftover Dust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Unallocated satangs stay in FundController vault.</a:t>
            </a:r>
            <a:br/>
            <a:r>
              <a:t>Off-chain service executes waterfall drop to top holders via allotSharesBatch.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Security Penetration Testing &amp; Test Verification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100% Defense Rate Across 16 Attack Vectors • 103/103 Passing Hardhat Unit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Reentrancy Protection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All mutating methods protected with ReentrancyGuard and Checks-Effects-Interactions.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🔒 Pairwise Non-Transitivity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Corridors are strictly non-transitive (A&lt;-&gt;B + B&lt;-&gt;C does NOT open A&lt;-&gt;C).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🌾 Dust Holding Gate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Transfers blocked if balance falls into dust zone (0 &lt; x &lt; 10 tMMF). Full exit allowed.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🔁 Idempotency Replay Locks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Allotments, distributions, and redemptions protected by unique hash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84048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🧮 1:1 Invariant Conservation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totalSupply == totalShares + controllerVaultBalance verified with 0 wei discrepancy.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84048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1,000-Wallet Stress Test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Simulated 1,000 wallets across 3 brokers under high load — 100% accurate.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